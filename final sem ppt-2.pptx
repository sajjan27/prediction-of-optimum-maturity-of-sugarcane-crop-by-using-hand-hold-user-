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77" r:id="rId4"/>
    <p:sldId id="274" r:id="rId5"/>
    <p:sldId id="275" r:id="rId6"/>
    <p:sldId id="273" r:id="rId7"/>
    <p:sldId id="268" r:id="rId8"/>
    <p:sldId id="272" r:id="rId9"/>
    <p:sldId id="271" r:id="rId10"/>
    <p:sldId id="278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8DDE1-1B2F-46C6-8102-9C7D50BD035A}" v="5" dt="2026-02-03T15:46:12.0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Deekshitha" userId="d3ea516ab8170de1" providerId="LiveId" clId="{083036CD-2642-410A-87F2-67A1754958C0}"/>
    <pc:docChg chg="custSel delSld modSld">
      <pc:chgData name="B Deekshitha" userId="d3ea516ab8170de1" providerId="LiveId" clId="{083036CD-2642-410A-87F2-67A1754958C0}" dt="2026-02-03T15:48:02.545" v="37" actId="20577"/>
      <pc:docMkLst>
        <pc:docMk/>
      </pc:docMkLst>
      <pc:sldChg chg="modSp mod">
        <pc:chgData name="B Deekshitha" userId="d3ea516ab8170de1" providerId="LiveId" clId="{083036CD-2642-410A-87F2-67A1754958C0}" dt="2026-02-03T15:48:02.545" v="37" actId="20577"/>
        <pc:sldMkLst>
          <pc:docMk/>
          <pc:sldMk cId="0" sldId="256"/>
        </pc:sldMkLst>
        <pc:spChg chg="mod">
          <ac:chgData name="B Deekshitha" userId="d3ea516ab8170de1" providerId="LiveId" clId="{083036CD-2642-410A-87F2-67A1754958C0}" dt="2026-02-03T15:48:02.545" v="37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B Deekshitha" userId="d3ea516ab8170de1" providerId="LiveId" clId="{083036CD-2642-410A-87F2-67A1754958C0}" dt="2026-02-03T12:25:14.036" v="9" actId="20577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B Deekshitha" userId="d3ea516ab8170de1" providerId="LiveId" clId="{083036CD-2642-410A-87F2-67A1754958C0}" dt="2026-02-03T12:27:17.711" v="11" actId="14100"/>
        <pc:sldMkLst>
          <pc:docMk/>
          <pc:sldMk cId="0" sldId="268"/>
        </pc:sldMkLst>
        <pc:picChg chg="mod">
          <ac:chgData name="B Deekshitha" userId="d3ea516ab8170de1" providerId="LiveId" clId="{083036CD-2642-410A-87F2-67A1754958C0}" dt="2026-02-03T12:27:17.711" v="11" actId="14100"/>
          <ac:picMkLst>
            <pc:docMk/>
            <pc:sldMk cId="0" sldId="268"/>
            <ac:picMk id="7" creationId="{00000000-0000-0000-0000-000000000000}"/>
          </ac:picMkLst>
        </pc:picChg>
      </pc:sldChg>
      <pc:sldChg chg="addSp delSp modSp mod">
        <pc:chgData name="B Deekshitha" userId="d3ea516ab8170de1" providerId="LiveId" clId="{083036CD-2642-410A-87F2-67A1754958C0}" dt="2026-02-03T15:33:08.119" v="18" actId="1076"/>
        <pc:sldMkLst>
          <pc:docMk/>
          <pc:sldMk cId="0" sldId="270"/>
        </pc:sldMkLst>
        <pc:spChg chg="del">
          <ac:chgData name="B Deekshitha" userId="d3ea516ab8170de1" providerId="LiveId" clId="{083036CD-2642-410A-87F2-67A1754958C0}" dt="2026-02-03T15:32:56.376" v="15" actId="21"/>
          <ac:spMkLst>
            <pc:docMk/>
            <pc:sldMk cId="0" sldId="270"/>
            <ac:spMk id="115" creationId="{00000000-0000-0000-0000-000000000000}"/>
          </ac:spMkLst>
        </pc:spChg>
        <pc:picChg chg="add mod">
          <ac:chgData name="B Deekshitha" userId="d3ea516ab8170de1" providerId="LiveId" clId="{083036CD-2642-410A-87F2-67A1754958C0}" dt="2026-02-03T15:33:08.119" v="18" actId="1076"/>
          <ac:picMkLst>
            <pc:docMk/>
            <pc:sldMk cId="0" sldId="270"/>
            <ac:picMk id="3" creationId="{0DAC7703-3E13-3BDF-3EA5-EEEB2CD04902}"/>
          </ac:picMkLst>
        </pc:picChg>
      </pc:sldChg>
      <pc:sldChg chg="modSp mod">
        <pc:chgData name="B Deekshitha" userId="d3ea516ab8170de1" providerId="LiveId" clId="{083036CD-2642-410A-87F2-67A1754958C0}" dt="2026-02-03T15:34:10.492" v="19" actId="14100"/>
        <pc:sldMkLst>
          <pc:docMk/>
          <pc:sldMk cId="0" sldId="275"/>
        </pc:sldMkLst>
        <pc:spChg chg="mod">
          <ac:chgData name="B Deekshitha" userId="d3ea516ab8170de1" providerId="LiveId" clId="{083036CD-2642-410A-87F2-67A1754958C0}" dt="2026-02-03T15:34:10.492" v="19" actId="14100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B Deekshitha" userId="d3ea516ab8170de1" providerId="LiveId" clId="{083036CD-2642-410A-87F2-67A1754958C0}" dt="2026-02-03T15:46:32.588" v="35" actId="2696"/>
        <pc:sldMkLst>
          <pc:docMk/>
          <pc:sldMk cId="0" sldId="276"/>
        </pc:sldMkLst>
      </pc:sldChg>
      <pc:sldChg chg="modSp mod">
        <pc:chgData name="B Deekshitha" userId="d3ea516ab8170de1" providerId="LiveId" clId="{083036CD-2642-410A-87F2-67A1754958C0}" dt="2026-02-03T15:46:12.042" v="34" actId="14100"/>
        <pc:sldMkLst>
          <pc:docMk/>
          <pc:sldMk cId="0" sldId="277"/>
        </pc:sldMkLst>
        <pc:spChg chg="mod">
          <ac:chgData name="B Deekshitha" userId="d3ea516ab8170de1" providerId="LiveId" clId="{083036CD-2642-410A-87F2-67A1754958C0}" dt="2026-02-03T15:46:12.042" v="34" actId="14100"/>
          <ac:spMkLst>
            <pc:docMk/>
            <pc:sldMk cId="0" sldId="27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Prediction of optimum maturity of Sugarcane crop by using hand hold user (farmer) friendly digital tool/device.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235290"/>
            <a:ext cx="4391131" cy="36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CIT_30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3276600"/>
            <a:ext cx="5514300" cy="219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Ms.Pushpalatha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Reviewer 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Mr.Lakshmisha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Final Sem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19667" y="4533900"/>
            <a:ext cx="102108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CSE7302-project</a:t>
            </a:r>
            <a:endParaRPr lang="en-US" sz="1800" b="1" i="0" u="none" strike="noStrike" cap="none" dirty="0">
              <a:solidFill>
                <a:schemeClr val="tx1"/>
              </a:solidFill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 S P Anandaraj Sir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90467" y="2721840"/>
          <a:ext cx="4602800" cy="147762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20221CIT0052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Sajjan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20221CIT0035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 Vamsi Krishna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20221CIT0048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Deekshitha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Sugarcane maturity plays a vital role in determining sugar recovery, crop quality,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farmer income. Harvesting too early results in low sucrose content, while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harvesting leads to fiber increase and sugar loss. Traditional maturity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methods rely on laboratory testing and visual inspection, which are time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consuming, costly, and not farmer-friendly. This project proposes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hand-held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tool/device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predicts the optimum maturity of sugarcane crops using real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sensor data and intelligent analysis. The system integrates environmental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parameters, crop characteristics, and predictive models to provide simple harvesting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to farmers. This approach enhances decision-making accuracy,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laboratories, and supports precision agriculture.</a:t>
            </a:r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8999" y="1468242"/>
            <a:ext cx="106680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portable, low-cost digital device that predicts the optimum maturity stage of sugarcane using sensor data and intelligent analytics.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maturity stage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sugarcane crops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hand-held, low-cost, and farmer-friendly digital device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dependency on laboratory-based maturity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harvesting recommendations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sugar recovery and farmer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sustainable and smart agriculture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Drawbacks: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43001"/>
            <a:ext cx="10668000" cy="4247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Subjective and varies between farmers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Testing (Brix, Pol%):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Costly, time-consuming, and not field-friendly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Analysis: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expert knowledge and historical data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Weather-Based Estimation: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accurately reflect real crop physiology</a:t>
            </a:r>
          </a:p>
          <a:p>
            <a:pPr marL="7620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results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operational cost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for large farming areas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small and marginal farmers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and Feasibility: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762138"/>
            <a:ext cx="10668000" cy="5333863"/>
          </a:xfrm>
        </p:spPr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Collection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data such as temperature, humidity, soil moisture, and Brix value using field sensors.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normalize sensor data to remove noise and inconsistencies.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crop age, variety, and environmental parameters into meaningful features.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Prediction Model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or threshold-based logic to predict maturity stage.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Classification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crop status into: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Immature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Maturity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Maturity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on LCD or mobile app in simple farmer-friendly language.</a:t>
            </a:r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Feasibility: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68867" y="1126067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Technical Feasibility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low-cost sensors, microcontrollers (ESP32/Arduino), and basic machine learning models, which are easily available and reliable. The device can process data locally or communicate with a mobile application using Bluetooth/Wi-Fi, making the implementation technically practical.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Operational Feasibility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hand-held device is designed to be simple and easy to use by farmers with minimal training. The system provides clear maturity results such as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Maturity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to Harvest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real field conditions.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Economic Feasibility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low-cost hardware components and open-source software tools, keeping development and maintenance costs minimal. It reduces laboratory testing expenses and improves sugar recovery, resulting in higher farmer income and economic benefits.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733" y="953809"/>
            <a:ext cx="5428051" cy="54460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Modules: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812800" y="1177164"/>
            <a:ext cx="8204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Data Acquisition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temperature, humidity, soil moisture, and sugar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Cleans and normalizes raw sensor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Selects relevant crop and environmental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Maturity Prediction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ML model or threshold logic to estimate maturity 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Classifies maturity into Immature, Near Maturity, or Ready to Harvest.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Notification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harvesting recommendation to farmers.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and Software details: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Embedded C / Python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Libraries: Scikit-learn / TensorFlow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Arduino IDE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App: Android Studio / Flutter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Firebase / MySQL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 Cloud deployment tools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Microcontroller: ESP32 / Arduino Uno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 Temperature, Humidity, Soil Moisture, Brix Sensor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LCD / OLED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Wi-Fi / Bluetooth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 Rechargeable Battery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Enclosure: Hand-held casing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 (Gantt Chart)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C7703-3E13-3BDF-3EA5-EEEB2CD04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8" y="977108"/>
            <a:ext cx="8612736" cy="51358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[1]. A. Kumar, B. R. Patel, and C. Zhang, “Plant disease identification using convolutional neural networks,” </a:t>
            </a:r>
            <a:r>
              <a:rPr lang="en-US" i="1" dirty="0"/>
              <a:t>IEEE Access</a:t>
            </a:r>
            <a:r>
              <a:rPr lang="en-US" dirty="0"/>
              <a:t>, vol. 9, pp. 34567–34578, Mar. 2021.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[2]. J. Smith, “Deep learning in agricultural systems,” </a:t>
            </a:r>
            <a:r>
              <a:rPr lang="en-US" i="1" dirty="0"/>
              <a:t>IEEE Transactions on Neural Networks and Learning Systems</a:t>
            </a:r>
            <a:r>
              <a:rPr lang="en-US" dirty="0"/>
              <a:t>, vol. 32, no. 7, pp. 1234–1245, Jul. 2021.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876</Words>
  <Application>Microsoft Office PowerPoint</Application>
  <PresentationFormat>Widescreen</PresentationFormat>
  <Paragraphs>113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</vt:lpstr>
      <vt:lpstr>Times New Roman</vt:lpstr>
      <vt:lpstr>Verdana</vt:lpstr>
      <vt:lpstr>Wingdings</vt:lpstr>
      <vt:lpstr>Bioinformatics</vt:lpstr>
      <vt:lpstr>Prediction of optimum maturity of Sugarcane crop by using hand hold user (farmer) friendly digital tool/device.</vt:lpstr>
      <vt:lpstr>Abstract:</vt:lpstr>
      <vt:lpstr>Objective:</vt:lpstr>
      <vt:lpstr>Existing Methods and Drawbacks:</vt:lpstr>
      <vt:lpstr>Proposed Method and Feasibility:</vt:lpstr>
      <vt:lpstr>Feasibility:</vt:lpstr>
      <vt:lpstr>System Architecture:</vt:lpstr>
      <vt:lpstr>System Modules:</vt:lpstr>
      <vt:lpstr>Hardware and Software details:</vt:lpstr>
      <vt:lpstr>PowerPoint Presentation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B Deekshitha</cp:lastModifiedBy>
  <cp:revision>41</cp:revision>
  <dcterms:created xsi:type="dcterms:W3CDTF">2026-01-31T16:21:56Z</dcterms:created>
  <dcterms:modified xsi:type="dcterms:W3CDTF">2026-02-03T15:48:05Z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E61B74CBFE7C4DE6A0B332EE92FE115B_12</vt:lpwstr>
  </property>
  <property fmtid="{D5CDD505-2E9C-101B-9397-08002B2CF9AE}" pid="3" name="KSOProductBuildVer">
    <vt:lpwstr>1033-12.2.0.23196</vt:lpwstr>
  </property>
</Properties>
</file>